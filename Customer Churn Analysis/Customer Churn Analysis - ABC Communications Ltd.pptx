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ownloads\AnalystLab_Project1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ownloads\AnalystLab_Project1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ownloads\AnalystLab_Project1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[AnalystLab_Project1.xlsx]Sheet1!PivotTable1</c:name>
    <c:fmtId val="7"/>
  </c:pivotSource>
  <c:chart>
    <c:autoTitleDeleted val="1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</c:pivotFmts>
    <c:plotArea>
      <c:layout/>
      <c:pieChart>
        <c:varyColors val="1"/>
        <c:ser>
          <c:idx val="0"/>
          <c:order val="0"/>
          <c:tx>
            <c:strRef>
              <c:f>Sheet1!$B$3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ECB5-47B3-A326-EFFFD4F61FB4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CB5-47B3-A326-EFFFD4F61FB4}"/>
              </c:ext>
            </c:extLst>
          </c:dPt>
          <c:cat>
            <c:strRef>
              <c:f>Sheet1!$A$4:$A$6</c:f>
              <c:strCache>
                <c:ptCount val="2"/>
                <c:pt idx="0">
                  <c:v>No</c:v>
                </c:pt>
                <c:pt idx="1">
                  <c:v>Yes</c:v>
                </c:pt>
              </c:strCache>
            </c:strRef>
          </c:cat>
          <c:val>
            <c:numRef>
              <c:f>Sheet1!$B$4:$B$6</c:f>
              <c:numCache>
                <c:formatCode>0.00%</c:formatCode>
                <c:ptCount val="2"/>
                <c:pt idx="0">
                  <c:v>0.73463012920630411</c:v>
                </c:pt>
                <c:pt idx="1">
                  <c:v>0.26536987079369589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CB5-47B3-A326-EFFFD4F61FB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[AnalystLab_Project1.xlsx]Sheet1!PivotTable4</c:name>
    <c:fmtId val="8"/>
  </c:pivotSource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Sheet1!$M$15:$M$16</c:f>
              <c:strCache>
                <c:ptCount val="1"/>
                <c:pt idx="0">
                  <c:v>Month-to-month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Sheet1!$L$17:$L$19</c:f>
              <c:strCache>
                <c:ptCount val="2"/>
                <c:pt idx="0">
                  <c:v>No</c:v>
                </c:pt>
                <c:pt idx="1">
                  <c:v>Yes</c:v>
                </c:pt>
              </c:strCache>
            </c:strRef>
          </c:cat>
          <c:val>
            <c:numRef>
              <c:f>Sheet1!$M$17:$M$19</c:f>
              <c:numCache>
                <c:formatCode>General</c:formatCode>
                <c:ptCount val="2"/>
                <c:pt idx="0">
                  <c:v>2220</c:v>
                </c:pt>
                <c:pt idx="1">
                  <c:v>1655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E10-4FAF-9C03-81C14E5B432C}"/>
            </c:ext>
          </c:extLst>
        </c:ser>
        <c:ser>
          <c:idx val="1"/>
          <c:order val="1"/>
          <c:tx>
            <c:strRef>
              <c:f>Sheet1!$N$15:$N$16</c:f>
              <c:strCache>
                <c:ptCount val="1"/>
                <c:pt idx="0">
                  <c:v>One year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Sheet1!$L$17:$L$19</c:f>
              <c:strCache>
                <c:ptCount val="2"/>
                <c:pt idx="0">
                  <c:v>No</c:v>
                </c:pt>
                <c:pt idx="1">
                  <c:v>Yes</c:v>
                </c:pt>
              </c:strCache>
            </c:strRef>
          </c:cat>
          <c:val>
            <c:numRef>
              <c:f>Sheet1!$N$17:$N$19</c:f>
              <c:numCache>
                <c:formatCode>General</c:formatCode>
                <c:ptCount val="2"/>
                <c:pt idx="0">
                  <c:v>1307</c:v>
                </c:pt>
                <c:pt idx="1">
                  <c:v>166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E10-4FAF-9C03-81C14E5B432C}"/>
            </c:ext>
          </c:extLst>
        </c:ser>
        <c:ser>
          <c:idx val="2"/>
          <c:order val="2"/>
          <c:tx>
            <c:strRef>
              <c:f>Sheet1!$O$15:$O$16</c:f>
              <c:strCache>
                <c:ptCount val="1"/>
                <c:pt idx="0">
                  <c:v>Two year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Sheet1!$L$17:$L$19</c:f>
              <c:strCache>
                <c:ptCount val="2"/>
                <c:pt idx="0">
                  <c:v>No</c:v>
                </c:pt>
                <c:pt idx="1">
                  <c:v>Yes</c:v>
                </c:pt>
              </c:strCache>
            </c:strRef>
          </c:cat>
          <c:val>
            <c:numRef>
              <c:f>Sheet1!$O$17:$O$19</c:f>
              <c:numCache>
                <c:formatCode>General</c:formatCode>
                <c:ptCount val="2"/>
                <c:pt idx="0">
                  <c:v>1647</c:v>
                </c:pt>
                <c:pt idx="1">
                  <c:v>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E10-4FAF-9C03-81C14E5B43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573876479"/>
        <c:axId val="1573887999"/>
      </c:barChart>
      <c:catAx>
        <c:axId val="1573876479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73887999"/>
        <c:crosses val="autoZero"/>
        <c:auto val="1"/>
        <c:lblAlgn val="ctr"/>
        <c:lblOffset val="100"/>
        <c:noMultiLvlLbl val="0"/>
      </c:catAx>
      <c:valAx>
        <c:axId val="1573887999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7387647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[AnalystLab_Project1.xlsx]Sheet1!PivotTable2</c:name>
    <c:fmtId val="6"/>
  </c:pivotSource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Sheet1!$B$13:$B$14</c:f>
              <c:strCache>
                <c:ptCount val="1"/>
                <c:pt idx="0">
                  <c:v>DSL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Sheet1!$A$15:$A$17</c:f>
              <c:strCache>
                <c:ptCount val="2"/>
                <c:pt idx="0">
                  <c:v>No</c:v>
                </c:pt>
                <c:pt idx="1">
                  <c:v>Yes</c:v>
                </c:pt>
              </c:strCache>
            </c:strRef>
          </c:cat>
          <c:val>
            <c:numRef>
              <c:f>Sheet1!$B$15:$B$17</c:f>
              <c:numCache>
                <c:formatCode>General</c:formatCode>
                <c:ptCount val="2"/>
                <c:pt idx="0">
                  <c:v>1962</c:v>
                </c:pt>
                <c:pt idx="1">
                  <c:v>459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B48-4B23-AF40-38356354089F}"/>
            </c:ext>
          </c:extLst>
        </c:ser>
        <c:ser>
          <c:idx val="1"/>
          <c:order val="1"/>
          <c:tx>
            <c:strRef>
              <c:f>Sheet1!$C$13:$C$14</c:f>
              <c:strCache>
                <c:ptCount val="1"/>
                <c:pt idx="0">
                  <c:v>Fiber optic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Sheet1!$A$15:$A$17</c:f>
              <c:strCache>
                <c:ptCount val="2"/>
                <c:pt idx="0">
                  <c:v>No</c:v>
                </c:pt>
                <c:pt idx="1">
                  <c:v>Yes</c:v>
                </c:pt>
              </c:strCache>
            </c:strRef>
          </c:cat>
          <c:val>
            <c:numRef>
              <c:f>Sheet1!$C$15:$C$17</c:f>
              <c:numCache>
                <c:formatCode>General</c:formatCode>
                <c:ptCount val="2"/>
                <c:pt idx="0">
                  <c:v>1799</c:v>
                </c:pt>
                <c:pt idx="1">
                  <c:v>1297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B48-4B23-AF40-38356354089F}"/>
            </c:ext>
          </c:extLst>
        </c:ser>
        <c:ser>
          <c:idx val="2"/>
          <c:order val="2"/>
          <c:tx>
            <c:strRef>
              <c:f>Sheet1!$D$13:$D$14</c:f>
              <c:strCache>
                <c:ptCount val="1"/>
                <c:pt idx="0">
                  <c:v>No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Sheet1!$A$15:$A$17</c:f>
              <c:strCache>
                <c:ptCount val="2"/>
                <c:pt idx="0">
                  <c:v>No</c:v>
                </c:pt>
                <c:pt idx="1">
                  <c:v>Yes</c:v>
                </c:pt>
              </c:strCache>
            </c:strRef>
          </c:cat>
          <c:val>
            <c:numRef>
              <c:f>Sheet1!$D$15:$D$17</c:f>
              <c:numCache>
                <c:formatCode>General</c:formatCode>
                <c:ptCount val="2"/>
                <c:pt idx="0">
                  <c:v>1413</c:v>
                </c:pt>
                <c:pt idx="1">
                  <c:v>113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B48-4B23-AF40-3835635408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429089872"/>
        <c:axId val="1429069232"/>
      </c:barChart>
      <c:catAx>
        <c:axId val="142908987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29069232"/>
        <c:crosses val="autoZero"/>
        <c:auto val="1"/>
        <c:lblAlgn val="ctr"/>
        <c:lblOffset val="100"/>
        <c:noMultiLvlLbl val="0"/>
      </c:catAx>
      <c:valAx>
        <c:axId val="142906923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290898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[AnalystLab_Project1.xlsx]Sheet1!PivotTable3</c:name>
    <c:fmtId val="6"/>
  </c:pivotSource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8.8538718448982479E-2"/>
          <c:y val="8.4267764138177575E-2"/>
          <c:w val="0.52726093613298342"/>
          <c:h val="0.82030811645373714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Sheet1!$B$21:$B$22</c:f>
              <c:strCache>
                <c:ptCount val="1"/>
                <c:pt idx="0">
                  <c:v>Bank transfer (automatic)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Sheet1!$A$23:$A$25</c:f>
              <c:strCache>
                <c:ptCount val="2"/>
                <c:pt idx="0">
                  <c:v>No</c:v>
                </c:pt>
                <c:pt idx="1">
                  <c:v>Yes</c:v>
                </c:pt>
              </c:strCache>
            </c:strRef>
          </c:cat>
          <c:val>
            <c:numRef>
              <c:f>Sheet1!$B$23:$B$25</c:f>
              <c:numCache>
                <c:formatCode>General</c:formatCode>
                <c:ptCount val="2"/>
                <c:pt idx="0">
                  <c:v>1286</c:v>
                </c:pt>
                <c:pt idx="1">
                  <c:v>258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FBC-4F87-91EE-160456D2132C}"/>
            </c:ext>
          </c:extLst>
        </c:ser>
        <c:ser>
          <c:idx val="1"/>
          <c:order val="1"/>
          <c:tx>
            <c:strRef>
              <c:f>Sheet1!$C$21:$C$22</c:f>
              <c:strCache>
                <c:ptCount val="1"/>
                <c:pt idx="0">
                  <c:v>Credit card (automatic)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Sheet1!$A$23:$A$25</c:f>
              <c:strCache>
                <c:ptCount val="2"/>
                <c:pt idx="0">
                  <c:v>No</c:v>
                </c:pt>
                <c:pt idx="1">
                  <c:v>Yes</c:v>
                </c:pt>
              </c:strCache>
            </c:strRef>
          </c:cat>
          <c:val>
            <c:numRef>
              <c:f>Sheet1!$C$23:$C$25</c:f>
              <c:numCache>
                <c:formatCode>General</c:formatCode>
                <c:ptCount val="2"/>
                <c:pt idx="0">
                  <c:v>1290</c:v>
                </c:pt>
                <c:pt idx="1">
                  <c:v>232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FBC-4F87-91EE-160456D2132C}"/>
            </c:ext>
          </c:extLst>
        </c:ser>
        <c:ser>
          <c:idx val="2"/>
          <c:order val="2"/>
          <c:tx>
            <c:strRef>
              <c:f>Sheet1!$D$21:$D$22</c:f>
              <c:strCache>
                <c:ptCount val="1"/>
                <c:pt idx="0">
                  <c:v>Electronic check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Sheet1!$A$23:$A$25</c:f>
              <c:strCache>
                <c:ptCount val="2"/>
                <c:pt idx="0">
                  <c:v>No</c:v>
                </c:pt>
                <c:pt idx="1">
                  <c:v>Yes</c:v>
                </c:pt>
              </c:strCache>
            </c:strRef>
          </c:cat>
          <c:val>
            <c:numRef>
              <c:f>Sheet1!$D$23:$D$25</c:f>
              <c:numCache>
                <c:formatCode>General</c:formatCode>
                <c:ptCount val="2"/>
                <c:pt idx="0">
                  <c:v>1294</c:v>
                </c:pt>
                <c:pt idx="1">
                  <c:v>1071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FBC-4F87-91EE-160456D2132C}"/>
            </c:ext>
          </c:extLst>
        </c:ser>
        <c:ser>
          <c:idx val="3"/>
          <c:order val="3"/>
          <c:tx>
            <c:strRef>
              <c:f>Sheet1!$E$21:$E$22</c:f>
              <c:strCache>
                <c:ptCount val="1"/>
                <c:pt idx="0">
                  <c:v>Mailed check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Sheet1!$A$23:$A$25</c:f>
              <c:strCache>
                <c:ptCount val="2"/>
                <c:pt idx="0">
                  <c:v>No</c:v>
                </c:pt>
                <c:pt idx="1">
                  <c:v>Yes</c:v>
                </c:pt>
              </c:strCache>
            </c:strRef>
          </c:cat>
          <c:val>
            <c:numRef>
              <c:f>Sheet1!$E$23:$E$25</c:f>
              <c:numCache>
                <c:formatCode>General</c:formatCode>
                <c:ptCount val="2"/>
                <c:pt idx="0">
                  <c:v>1304</c:v>
                </c:pt>
                <c:pt idx="1">
                  <c:v>308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FBC-4F87-91EE-160456D213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934113791"/>
        <c:axId val="1934114271"/>
      </c:barChart>
      <c:catAx>
        <c:axId val="193411379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34114271"/>
        <c:crosses val="autoZero"/>
        <c:auto val="1"/>
        <c:lblAlgn val="ctr"/>
        <c:lblOffset val="100"/>
        <c:noMultiLvlLbl val="0"/>
      </c:catAx>
      <c:valAx>
        <c:axId val="19341142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3411379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C84EC-B78F-DDF7-98B8-E2F6501C3B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42D839-DDDC-E274-0D34-D7AF1DE61E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01FBBC-1024-8745-E4CE-E930FD238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7FA96-1EFD-416C-BAA9-125EFE2D9EB1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703011-48B2-19F4-6FA1-F7E75BC4E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E2315C-D216-9DD4-D981-63E70E076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C6CA7-81E1-4480-AA11-0438F962F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6071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CCAB3-21CE-119B-2B30-3C30298D9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1931B8-79DD-B6DD-947B-F5DFC62B78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6F76E4-AA2A-45C4-D3FA-4F2B5C3A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7FA96-1EFD-416C-BAA9-125EFE2D9EB1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147D39-3DC1-420D-D9FC-F7F2B44EA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789E37-1DA6-DD78-76FD-334F569FE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C6CA7-81E1-4480-AA11-0438F962F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6913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C08E7-96F3-9526-81FA-A6FD9D8F0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C568BE-4601-BB7D-FB02-0D628E030A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6CB788-82B5-B421-8C01-DBF4EAD59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7FA96-1EFD-416C-BAA9-125EFE2D9EB1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1F8180-3376-99E2-1F88-B27EFED6D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38DB2F-5B76-0DE5-606A-329B958E3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C6CA7-81E1-4480-AA11-0438F962F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721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5154F-06EA-90BD-B921-E23CA74D9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6BA37-E270-F99C-7EE2-2988B3258C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5BEC47-E042-9784-9411-2C19297CF2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E94818-7D1E-0379-074F-04589C911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7FA96-1EFD-416C-BAA9-125EFE2D9EB1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5606C0-5081-76F6-79B5-865C562A4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D95195-E719-5195-DF03-3FFC200B1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C6CA7-81E1-4480-AA11-0438F962F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2172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F6E50-5B0A-EB23-4265-721FEEEB1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BBB2C0-C447-51FE-253E-976F5380FE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15E1C2-C3DB-02F2-6405-656F7E13EE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DE73AD-B0BC-12B6-C11D-AB12628AF5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F5BD3E-B2C3-9188-E225-1B823332EA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9ED10E-4935-DB4A-268C-0D4D8A683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7FA96-1EFD-416C-BAA9-125EFE2D9EB1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ADCF4C-093E-144B-C253-124C1C7B1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20FE97-805C-3EA1-0C68-9290CAD82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C6CA7-81E1-4480-AA11-0438F962F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379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2607A-7DBD-A71E-F0E6-60D3B8E04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BB100A-9B60-B095-AAE7-A35B13152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7FA96-1EFD-416C-BAA9-125EFE2D9EB1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B1DA85-7929-E5F8-6347-B5ABE8338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738C4F-8EF9-1B65-81A2-49054C685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C6CA7-81E1-4480-AA11-0438F962F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5233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D09B90-92AA-2B19-FF66-BF5BB39F3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7FA96-1EFD-416C-BAA9-125EFE2D9EB1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334BB4-8853-0312-283D-B0A4F63A1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BA5D03-E68A-1C49-739A-FA4707C09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C6CA7-81E1-4480-AA11-0438F962F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3725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73679-1CC7-97E8-259D-F1C950E85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30CB3-A236-DA89-27AD-AD37995346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599DC7-5BBC-459F-E0F1-5E7A85B535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8BA2DD-F466-DBD5-A2DF-1C4AFC54E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7FA96-1EFD-416C-BAA9-125EFE2D9EB1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8D1004-A5ED-2FE9-3C3E-90CD1989D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E56692-5B81-FF82-E62E-30ADF72DF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C6CA7-81E1-4480-AA11-0438F962F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2731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E5462-4F21-2D09-E619-4510F3FC0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2BEEF7-0826-6BBC-8E2A-CC93FC5837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5604B5-F3B5-9861-A565-BE9DCF506E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3B4B39-9139-234B-BF60-DAE2631F1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7FA96-1EFD-416C-BAA9-125EFE2D9EB1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0F1207-681F-4924-DEC6-A98960615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C41E62-CAA0-645E-98C6-E3C95DE9C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C6CA7-81E1-4480-AA11-0438F962F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812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8EE86-BA5D-6B2F-AA6C-4111C015F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E5CD68-F07D-87CE-D8B0-095C23BC75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1D64E2-7E41-124C-A718-39667C5BC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7FA96-1EFD-416C-BAA9-125EFE2D9EB1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08EFC0-84C4-F1DF-39AD-5B012FB8F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DE4FDC-F391-55CF-4030-256332F87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C6CA7-81E1-4480-AA11-0438F962F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159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CBF88-274A-F275-F1EB-4333119F1C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4308D1-B55E-8694-FA05-8BD7BB64CB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6DB68C-D2BA-B241-235E-F5033C1E8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7FA96-1EFD-416C-BAA9-125EFE2D9EB1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F8D587-0A77-7989-F2E2-254FA4F2A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C013D1-D9C8-E1B9-79FB-257D53EE6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C6CA7-81E1-4480-AA11-0438F962F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35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BC727F-A378-4C56-0B01-FC6970B91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637D1F-5A60-13B3-2F49-7D7D3B49E9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6ECDD0-18AD-32F4-9B63-4CA76C261A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D7FA96-1EFD-416C-BAA9-125EFE2D9EB1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78A6B0-F3E9-180E-BFF4-944008310B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8BFB34-EDE0-BE6B-4FB6-0F6545997D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8C6CA7-81E1-4480-AA11-0438F962F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438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g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A603E8-1158-A7CA-9092-371E39BD8C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70155"/>
            <a:ext cx="9144000" cy="2639808"/>
          </a:xfrm>
        </p:spPr>
        <p:txBody>
          <a:bodyPr>
            <a:normAutofit fontScale="90000"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Customer Behaviour &amp; Business Performance Analysis for ABC Communications Ltd</a:t>
            </a:r>
            <a:br/>
            <a:r>
              <a:rPr sz="1600" i="1">
                <a:solidFill>
                  <a:srgbClr val="CADCFC"/>
                </a:solidFill>
                <a:latin typeface="Calibri"/>
              </a:rPr>
              <a:t>Telco Customer Churn Dataset</a:t>
            </a:r>
            <a:endParaRPr lang="en-US" sz="2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DF8276-69DA-F98D-455E-94D5C43B3FB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spcBef>
                <a:spcPts val="1800"/>
              </a:spcBef>
            </a:pPr>
            <a:r>
              <a:rPr sz="1400" b="0" i="0" dirty="0">
                <a:solidFill>
                  <a:srgbClr val="D9E3F2"/>
                </a:solidFill>
                <a:latin typeface="Calibri"/>
              </a:rPr>
              <a:t>Prepared by </a:t>
            </a:r>
            <a:r>
              <a:rPr sz="1400" b="1" i="0" dirty="0">
                <a:solidFill>
                  <a:srgbClr val="FFFFFF"/>
                </a:solidFill>
                <a:latin typeface="Calibri"/>
              </a:rPr>
              <a:t>Adesola Sobambo</a:t>
            </a:r>
            <a:endParaRPr lang="en-US" dirty="0">
              <a:effectLst/>
            </a:endParaRPr>
          </a:p>
          <a:p>
            <a:pPr algn="ctr">
              <a:spcBef>
                <a:spcPts val="400"/>
              </a:spcBef>
            </a:pPr>
            <a:r>
              <a:rPr sz="1200" b="0" i="0" dirty="0">
                <a:solidFill>
                  <a:srgbClr val="B9C7E0"/>
                </a:solidFill>
                <a:latin typeface="Calibri"/>
              </a:rPr>
              <a:t>Data Analytics </a:t>
            </a:r>
            <a:r>
              <a:rPr sz="1200" b="0" i="0">
                <a:solidFill>
                  <a:srgbClr val="B9C7E0"/>
                </a:solidFill>
                <a:latin typeface="Calibri"/>
              </a:rPr>
              <a:t>Internship Program – </a:t>
            </a:r>
            <a:r>
              <a:rPr sz="1200" b="0" i="0" dirty="0" err="1">
                <a:solidFill>
                  <a:srgbClr val="B9C7E0"/>
                </a:solidFill>
                <a:latin typeface="Calibri"/>
              </a:rPr>
              <a:t>AnalystLab</a:t>
            </a:r>
            <a:r>
              <a:rPr sz="1200" b="0" i="0" dirty="0">
                <a:solidFill>
                  <a:srgbClr val="B9C7E0"/>
                </a:solidFill>
                <a:latin typeface="Calibri"/>
              </a:rPr>
              <a:t> Africa</a:t>
            </a:r>
          </a:p>
          <a:p>
            <a:pPr algn="ctr">
              <a:spcBef>
                <a:spcPts val="400"/>
              </a:spcBef>
            </a:pPr>
            <a:r>
              <a:rPr sz="1200" b="0" i="0" dirty="0">
                <a:solidFill>
                  <a:srgbClr val="B9C7E0"/>
                </a:solidFill>
                <a:latin typeface="Calibri"/>
              </a:rPr>
              <a:t>August 8, 2026</a:t>
            </a:r>
          </a:p>
        </p:txBody>
      </p:sp>
    </p:spTree>
    <p:extLst>
      <p:ext uri="{BB962C8B-B14F-4D97-AF65-F5344CB8AC3E}">
        <p14:creationId xmlns:p14="http://schemas.microsoft.com/office/powerpoint/2010/main" val="37876701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606A8A1-0AC9-5E5D-6EA0-556C99E0E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400" b="1" i="0">
                <a:solidFill>
                  <a:srgbClr val="1F3864"/>
                </a:solidFill>
                <a:latin typeface="Calibri"/>
              </a:rPr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3F1FF0-40C9-A4CD-5474-7D42B177B7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600"/>
              </a:spcAft>
              <a:buNone/>
            </a:pPr>
            <a:r>
              <a:rPr sz="1800" b="1" i="0">
                <a:solidFill>
                  <a:srgbClr val="2E74B1"/>
                </a:solidFill>
                <a:latin typeface="Calibri"/>
              </a:rPr>
              <a:t>01   </a:t>
            </a:r>
            <a:r>
              <a:rPr sz="1800" b="0" i="0">
                <a:solidFill>
                  <a:srgbClr val="16283F"/>
                </a:solidFill>
                <a:latin typeface="Calibri"/>
              </a:rPr>
              <a:t>Business Problem &amp; Objective</a:t>
            </a:r>
          </a:p>
          <a:p>
            <a:pPr>
              <a:spcAft>
                <a:spcPts val="1600"/>
              </a:spcAft>
              <a:buNone/>
            </a:pPr>
            <a:r>
              <a:rPr sz="1800" b="1" i="0">
                <a:solidFill>
                  <a:srgbClr val="2E74B1"/>
                </a:solidFill>
                <a:latin typeface="Calibri"/>
              </a:rPr>
              <a:t>02   </a:t>
            </a:r>
            <a:r>
              <a:rPr sz="1800" b="0" i="0">
                <a:solidFill>
                  <a:srgbClr val="16283F"/>
                </a:solidFill>
                <a:latin typeface="Calibri"/>
              </a:rPr>
              <a:t>Dataset Overview</a:t>
            </a:r>
          </a:p>
          <a:p>
            <a:pPr>
              <a:spcAft>
                <a:spcPts val="1600"/>
              </a:spcAft>
              <a:buNone/>
            </a:pPr>
            <a:r>
              <a:rPr sz="1800" b="1" i="0">
                <a:solidFill>
                  <a:srgbClr val="2E74B1"/>
                </a:solidFill>
                <a:latin typeface="Calibri"/>
              </a:rPr>
              <a:t>03   </a:t>
            </a:r>
            <a:r>
              <a:rPr sz="1800" b="0" i="0">
                <a:solidFill>
                  <a:srgbClr val="16283F"/>
                </a:solidFill>
                <a:latin typeface="Calibri"/>
              </a:rPr>
              <a:t>Key Insights</a:t>
            </a:r>
          </a:p>
          <a:p>
            <a:pPr>
              <a:spcAft>
                <a:spcPts val="1600"/>
              </a:spcAft>
              <a:buNone/>
            </a:pPr>
            <a:r>
              <a:rPr sz="1800" b="1" i="0">
                <a:solidFill>
                  <a:srgbClr val="2E74B1"/>
                </a:solidFill>
                <a:latin typeface="Calibri"/>
              </a:rPr>
              <a:t>04   </a:t>
            </a:r>
            <a:r>
              <a:rPr sz="1800" b="0" i="0">
                <a:solidFill>
                  <a:srgbClr val="16283F"/>
                </a:solidFill>
                <a:latin typeface="Calibri"/>
              </a:rPr>
              <a:t>Business Risks</a:t>
            </a:r>
          </a:p>
          <a:p>
            <a:pPr>
              <a:spcAft>
                <a:spcPts val="1600"/>
              </a:spcAft>
              <a:buNone/>
            </a:pPr>
            <a:r>
              <a:rPr sz="1800" b="1" i="0">
                <a:solidFill>
                  <a:srgbClr val="2E74B1"/>
                </a:solidFill>
                <a:latin typeface="Calibri"/>
              </a:rPr>
              <a:t>05   </a:t>
            </a:r>
            <a:r>
              <a:rPr sz="1800" b="0" i="0">
                <a:solidFill>
                  <a:srgbClr val="16283F"/>
                </a:solidFill>
                <a:latin typeface="Calibri"/>
              </a:rPr>
              <a:t>Business Opportunities</a:t>
            </a:r>
          </a:p>
          <a:p>
            <a:pPr>
              <a:spcAft>
                <a:spcPts val="1600"/>
              </a:spcAft>
              <a:buNone/>
            </a:pPr>
            <a:r>
              <a:rPr sz="1800" b="1" i="0">
                <a:solidFill>
                  <a:srgbClr val="2E74B1"/>
                </a:solidFill>
                <a:latin typeface="Calibri"/>
              </a:rPr>
              <a:t>06   </a:t>
            </a:r>
            <a:r>
              <a:rPr sz="1800" b="0" i="0">
                <a:solidFill>
                  <a:srgbClr val="16283F"/>
                </a:solidFill>
                <a:latin typeface="Calibri"/>
              </a:rPr>
              <a:t>Recommendations</a:t>
            </a:r>
          </a:p>
          <a:p>
            <a:pPr>
              <a:spcAft>
                <a:spcPts val="1600"/>
              </a:spcAft>
              <a:buNone/>
            </a:pPr>
            <a:r>
              <a:rPr sz="1800" b="1" i="0">
                <a:solidFill>
                  <a:srgbClr val="2E74B1"/>
                </a:solidFill>
                <a:latin typeface="Calibri"/>
              </a:rPr>
              <a:t>07   </a:t>
            </a:r>
            <a:r>
              <a:rPr sz="1800" b="0" i="0">
                <a:solidFill>
                  <a:srgbClr val="16283F"/>
                </a:solidFill>
                <a:latin typeface="Calibri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2323789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AFE2F43-F421-ED0E-D870-758C512FD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97861"/>
            <a:ext cx="10515600" cy="593520"/>
          </a:xfrm>
        </p:spPr>
        <p:txBody>
          <a:bodyPr>
            <a:normAutofit fontScale="90000"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Calibri"/>
              </a:rPr>
              <a:t>Business Problem &amp; Objective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390EB0-8E6F-6E6C-81E0-626E67B369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1"/>
            <a:ext cx="6075439" cy="3554361"/>
          </a:xfrm>
        </p:spPr>
        <p:txBody>
          <a:bodyPr>
            <a:normAutofit fontScale="70000" lnSpcReduction="20000"/>
          </a:bodyPr>
          <a:lstStyle/>
          <a:p>
            <a:pPr marL="342900" indent="-342900">
              <a:spcAft>
                <a:spcPts val="400"/>
              </a:spcAft>
              <a:buClr>
                <a:srgbClr val="2E74B1"/>
              </a:buClr>
            </a:pPr>
            <a:r>
              <a:rPr sz="1500" b="1" i="0">
                <a:solidFill>
                  <a:srgbClr val="16283F"/>
                </a:solidFill>
                <a:latin typeface="Calibri"/>
              </a:rPr>
              <a:t>The Problem</a:t>
            </a:r>
            <a:endParaRPr lang="en-US" dirty="0">
              <a:effectLst/>
            </a:endParaRPr>
          </a:p>
          <a:p>
            <a:pPr marL="342900" indent="-342900">
              <a:spcAft>
                <a:spcPts val="400"/>
              </a:spcAft>
              <a:buClr>
                <a:srgbClr val="2E74B1"/>
              </a:buClr>
            </a:pPr>
            <a:r>
              <a:rPr sz="1300" b="0" i="0">
                <a:solidFill>
                  <a:srgbClr val="404040"/>
                </a:solidFill>
                <a:latin typeface="Calibri"/>
              </a:rPr>
              <a:t>26.5% of customers have churned — 1,869 out of 7,043.</a:t>
            </a:r>
          </a:p>
          <a:p>
            <a:pPr marL="342900" indent="-342900">
              <a:spcAft>
                <a:spcPts val="1400"/>
              </a:spcAft>
              <a:buClr>
                <a:srgbClr val="2E74B1"/>
              </a:buClr>
            </a:pPr>
            <a:r>
              <a:rPr sz="1300" b="0" i="0">
                <a:solidFill>
                  <a:srgbClr val="404040"/>
                </a:solidFill>
                <a:latin typeface="Calibri"/>
              </a:rPr>
              <a:t>That drop-off is eating into recurring revenue.</a:t>
            </a:r>
          </a:p>
          <a:p>
            <a:pPr marL="342900" indent="-342900">
              <a:spcAft>
                <a:spcPts val="400"/>
              </a:spcAft>
              <a:buClr>
                <a:srgbClr val="2E74B1"/>
              </a:buClr>
            </a:pPr>
            <a:r>
              <a:rPr sz="1500" b="1" i="0">
                <a:solidFill>
                  <a:srgbClr val="16283F"/>
                </a:solidFill>
                <a:latin typeface="Calibri"/>
              </a:rPr>
              <a:t>Business Objective</a:t>
            </a:r>
          </a:p>
          <a:p>
            <a:pPr marL="342900" indent="-342900">
              <a:spcAft>
                <a:spcPts val="1400"/>
              </a:spcAft>
              <a:buClr>
                <a:srgbClr val="2E74B1"/>
              </a:buClr>
            </a:pPr>
            <a:r>
              <a:rPr sz="1300" b="0" i="0">
                <a:solidFill>
                  <a:srgbClr val="404040"/>
                </a:solidFill>
                <a:latin typeface="Calibri"/>
              </a:rPr>
              <a:t>Understand why customers are leaving and which factors matter most, so the team can act before it's too late.</a:t>
            </a:r>
          </a:p>
          <a:p>
            <a:pPr marL="342900" indent="-342900">
              <a:spcAft>
                <a:spcPts val="0"/>
              </a:spcAft>
              <a:buNone/>
            </a:pPr>
            <a:endParaRPr sz="1300" b="0" i="0">
              <a:solidFill>
                <a:srgbClr val="404040"/>
              </a:solidFill>
              <a:latin typeface="Calibri"/>
            </a:endParaRPr>
          </a:p>
          <a:p>
            <a:pPr marL="342900" indent="-342900">
              <a:spcAft>
                <a:spcPts val="400"/>
              </a:spcAft>
              <a:buClr>
                <a:srgbClr val="2E74B1"/>
              </a:buClr>
            </a:pPr>
            <a:r>
              <a:rPr sz="1500" b="1" i="0">
                <a:solidFill>
                  <a:srgbClr val="16283F"/>
                </a:solidFill>
                <a:latin typeface="Calibri"/>
              </a:rPr>
              <a:t>Why It Matters</a:t>
            </a:r>
            <a:endParaRPr lang="en-US" dirty="0">
              <a:effectLst/>
            </a:endParaRPr>
          </a:p>
          <a:p>
            <a:pPr marL="342900" indent="-342900">
              <a:spcAft>
                <a:spcPts val="400"/>
              </a:spcAft>
              <a:buClr>
                <a:srgbClr val="2E74B1"/>
              </a:buClr>
            </a:pPr>
            <a:r>
              <a:rPr sz="1300" b="0" i="0">
                <a:solidFill>
                  <a:srgbClr val="404040"/>
                </a:solidFill>
                <a:latin typeface="Calibri"/>
              </a:rPr>
              <a:t>Winning a new customer costs far more than keeping one.</a:t>
            </a:r>
          </a:p>
          <a:p>
            <a:pPr marL="342900" indent="-342900">
              <a:spcAft>
                <a:spcPts val="0"/>
              </a:spcAft>
              <a:buClr>
                <a:srgbClr val="2E74B1"/>
              </a:buClr>
            </a:pPr>
            <a:r>
              <a:rPr sz="1300" b="0" i="0">
                <a:solidFill>
                  <a:srgbClr val="404040"/>
                </a:solidFill>
                <a:latin typeface="Calibri"/>
              </a:rPr>
              <a:t>Cutting churn protects revenue and grows customer lifetime value.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03911" y="981653"/>
            <a:ext cx="4791456" cy="296265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CBA4D3E5-A30A-8BA5-8C6A-FB2809462F4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79817268"/>
              </p:ext>
            </p:extLst>
          </p:nvPr>
        </p:nvGraphicFramePr>
        <p:xfrm>
          <a:off x="7113639" y="1091381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581871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3D32484-0EF1-25FD-0607-FB7B0579A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200" b="1" i="0">
                <a:solidFill>
                  <a:srgbClr val="1F3864"/>
                </a:solidFill>
                <a:latin typeface="Calibri"/>
              </a:rPr>
              <a:t>Dataset Overview</a:t>
            </a:r>
            <a:endParaRPr lang="en-US" dirty="0"/>
          </a:p>
        </p:txBody>
      </p:sp>
      <p:sp>
        <p:nvSpPr>
          <p:cNvPr id="5" name="Rounded Rectangle 4"/>
          <p:cNvSpPr/>
          <p:nvPr/>
        </p:nvSpPr>
        <p:spPr>
          <a:xfrm>
            <a:off x="841248" y="1965960"/>
            <a:ext cx="233172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800" b="1">
                <a:solidFill>
                  <a:srgbClr val="2E74B1"/>
                </a:solidFill>
                <a:latin typeface="Calibri"/>
              </a:rPr>
              <a:t>7,043</a:t>
            </a:r>
          </a:p>
          <a:p>
            <a:pPr algn="ctr">
              <a:spcBef>
                <a:spcPts val="600"/>
              </a:spcBef>
            </a:pPr>
            <a:r>
              <a:rPr sz="1300">
                <a:solidFill>
                  <a:srgbClr val="404040"/>
                </a:solidFill>
                <a:latin typeface="Calibri"/>
              </a:rPr>
              <a:t>Total customers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965960"/>
            <a:ext cx="233172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800" b="1">
                <a:solidFill>
                  <a:srgbClr val="2E74B1"/>
                </a:solidFill>
                <a:latin typeface="Calibri"/>
              </a:rPr>
              <a:t>21</a:t>
            </a:r>
          </a:p>
          <a:p>
            <a:pPr algn="ctr">
              <a:spcBef>
                <a:spcPts val="600"/>
              </a:spcBef>
            </a:pPr>
            <a:r>
              <a:rPr sz="1300">
                <a:solidFill>
                  <a:srgbClr val="404040"/>
                </a:solidFill>
                <a:latin typeface="Calibri"/>
              </a:rPr>
              <a:t>Variables tracked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16752" y="1965960"/>
            <a:ext cx="233172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800" b="1">
                <a:solidFill>
                  <a:srgbClr val="2E74B1"/>
                </a:solidFill>
                <a:latin typeface="Calibri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sz="1300">
                <a:solidFill>
                  <a:srgbClr val="404040"/>
                </a:solidFill>
                <a:latin typeface="Calibri"/>
              </a:rPr>
              <a:t>Missing values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04504" y="1965960"/>
            <a:ext cx="233172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800" b="1">
                <a:solidFill>
                  <a:srgbClr val="2E74B1"/>
                </a:solidFill>
                <a:latin typeface="Calibri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sz="1300">
                <a:solidFill>
                  <a:srgbClr val="404040"/>
                </a:solidFill>
                <a:latin typeface="Calibri"/>
              </a:rPr>
              <a:t>Duplicate records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3977639"/>
            <a:ext cx="100584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404040"/>
                </a:solidFill>
                <a:latin typeface="Calibri"/>
              </a:rPr>
              <a:t>21 variables cover demographics, services, contract terms, payment methods, and charges — with Churn (Yes/No) as the target.</a:t>
            </a:r>
          </a:p>
          <a:p>
            <a:r>
              <a:rPr sz="1500">
                <a:solidFill>
                  <a:srgbClr val="404040"/>
                </a:solidFill>
                <a:latin typeface="Calibri"/>
              </a:rPr>
              <a:t>The data's clean and ready to go: no missing values, no duplicate records — a solid foundation for spotting what actually drives churn.</a:t>
            </a:r>
          </a:p>
        </p:txBody>
      </p:sp>
    </p:spTree>
    <p:extLst>
      <p:ext uri="{BB962C8B-B14F-4D97-AF65-F5344CB8AC3E}">
        <p14:creationId xmlns:p14="http://schemas.microsoft.com/office/powerpoint/2010/main" val="20959328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14F2695-887F-C39A-62F4-7730A605A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400" b="1" i="0">
                <a:solidFill>
                  <a:srgbClr val="1F3864"/>
                </a:solidFill>
                <a:latin typeface="Calibri"/>
              </a:rPr>
              <a:t>Contracts &amp; Internet Service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215948-A8F8-3353-EA50-5D8F21DAD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212" y="1253331"/>
            <a:ext cx="5623994" cy="5239544"/>
          </a:xfrm>
        </p:spPr>
        <p:txBody>
          <a:bodyPr>
            <a:normAutofit/>
          </a:bodyPr>
          <a:lstStyle/>
          <a:p>
            <a:pPr marL="342900" indent="-342900">
              <a:spcAft>
                <a:spcPts val="300"/>
              </a:spcAft>
              <a:buClr>
                <a:srgbClr val="2E74B1"/>
              </a:buClr>
            </a:pPr>
            <a:r>
              <a:rPr sz="1400" b="1" i="0" dirty="0">
                <a:solidFill>
                  <a:srgbClr val="16283F"/>
                </a:solidFill>
                <a:latin typeface="Calibri"/>
              </a:rPr>
              <a:t>1. Contract type is the strongest churn driver</a:t>
            </a:r>
            <a:endParaRPr lang="en-US" sz="1400" b="1" i="0" dirty="0">
              <a:solidFill>
                <a:srgbClr val="16283F"/>
              </a:solidFill>
              <a:latin typeface="Calibri"/>
            </a:endParaRPr>
          </a:p>
          <a:p>
            <a:pPr marL="342900" indent="-342900">
              <a:spcAft>
                <a:spcPts val="300"/>
              </a:spcAft>
              <a:buClr>
                <a:srgbClr val="2E74B1"/>
              </a:buClr>
            </a:pPr>
            <a:endParaRPr lang="en-US" dirty="0">
              <a:effectLst/>
            </a:endParaRPr>
          </a:p>
          <a:p>
            <a:pPr marL="342900" indent="-342900">
              <a:spcAft>
                <a:spcPts val="200"/>
              </a:spcAft>
              <a:buClr>
                <a:srgbClr val="2E74B1"/>
              </a:buClr>
            </a:pPr>
            <a:r>
              <a:rPr sz="1200" b="0" i="0" dirty="0">
                <a:solidFill>
                  <a:srgbClr val="404040"/>
                </a:solidFill>
                <a:latin typeface="Calibri"/>
              </a:rPr>
              <a:t>Month-to-month: </a:t>
            </a:r>
            <a:r>
              <a:rPr sz="1200" b="1" i="0" dirty="0">
                <a:solidFill>
                  <a:srgbClr val="2E74B1"/>
                </a:solidFill>
                <a:latin typeface="Calibri"/>
              </a:rPr>
              <a:t>42.7%</a:t>
            </a:r>
            <a:r>
              <a:rPr sz="1200" b="0" i="0" dirty="0">
                <a:solidFill>
                  <a:srgbClr val="404040"/>
                </a:solidFill>
                <a:latin typeface="Calibri"/>
              </a:rPr>
              <a:t> churn</a:t>
            </a:r>
          </a:p>
          <a:p>
            <a:pPr marL="342900" indent="-342900">
              <a:spcAft>
                <a:spcPts val="200"/>
              </a:spcAft>
              <a:buClr>
                <a:srgbClr val="2E74B1"/>
              </a:buClr>
            </a:pPr>
            <a:r>
              <a:rPr sz="1200" b="0" i="0" dirty="0">
                <a:solidFill>
                  <a:srgbClr val="404040"/>
                </a:solidFill>
                <a:latin typeface="Calibri"/>
              </a:rPr>
              <a:t>One-year: 11.3% churn</a:t>
            </a:r>
          </a:p>
          <a:p>
            <a:pPr marL="342900" indent="-342900">
              <a:spcAft>
                <a:spcPts val="1600"/>
              </a:spcAft>
              <a:buClr>
                <a:srgbClr val="2E74B1"/>
              </a:buClr>
            </a:pPr>
            <a:r>
              <a:rPr sz="1200" b="0" i="0" dirty="0">
                <a:solidFill>
                  <a:srgbClr val="404040"/>
                </a:solidFill>
                <a:latin typeface="Calibri"/>
              </a:rPr>
              <a:t>Two-year: just </a:t>
            </a:r>
            <a:r>
              <a:rPr sz="1200" b="1" i="0" dirty="0">
                <a:solidFill>
                  <a:srgbClr val="2E74B1"/>
                </a:solidFill>
                <a:latin typeface="Calibri"/>
              </a:rPr>
              <a:t>2.8%</a:t>
            </a:r>
            <a:r>
              <a:rPr sz="1200" b="0" i="0" dirty="0">
                <a:solidFill>
                  <a:srgbClr val="404040"/>
                </a:solidFill>
                <a:latin typeface="Calibri"/>
              </a:rPr>
              <a:t> churn</a:t>
            </a:r>
          </a:p>
          <a:p>
            <a:pPr marL="342900" indent="-342900">
              <a:spcAft>
                <a:spcPts val="300"/>
              </a:spcAft>
              <a:buClr>
                <a:srgbClr val="2E74B1"/>
              </a:buClr>
            </a:pPr>
            <a:endParaRPr lang="en-US" sz="1400" b="1" i="0" dirty="0">
              <a:solidFill>
                <a:srgbClr val="16283F"/>
              </a:solidFill>
              <a:latin typeface="Calibri"/>
            </a:endParaRPr>
          </a:p>
          <a:p>
            <a:pPr marL="342900" indent="-342900">
              <a:spcAft>
                <a:spcPts val="300"/>
              </a:spcAft>
              <a:buClr>
                <a:srgbClr val="2E74B1"/>
              </a:buClr>
            </a:pPr>
            <a:endParaRPr lang="en-US" sz="1400" b="1" i="0" dirty="0">
              <a:solidFill>
                <a:srgbClr val="16283F"/>
              </a:solidFill>
              <a:latin typeface="Calibri"/>
            </a:endParaRPr>
          </a:p>
          <a:p>
            <a:pPr marL="342900" indent="-342900">
              <a:spcAft>
                <a:spcPts val="300"/>
              </a:spcAft>
              <a:buClr>
                <a:srgbClr val="2E74B1"/>
              </a:buClr>
            </a:pPr>
            <a:r>
              <a:rPr sz="1400" b="1" i="0" dirty="0">
                <a:solidFill>
                  <a:srgbClr val="16283F"/>
                </a:solidFill>
                <a:latin typeface="Calibri"/>
              </a:rPr>
              <a:t>2. Fiber optic customers are a high-risk group</a:t>
            </a:r>
            <a:endParaRPr lang="en-US" dirty="0"/>
          </a:p>
          <a:p>
            <a:pPr marL="342900" indent="-342900">
              <a:spcAft>
                <a:spcPts val="0"/>
              </a:spcAft>
              <a:buNone/>
            </a:pPr>
            <a:endParaRPr lang="en-US" dirty="0"/>
          </a:p>
          <a:p>
            <a:pPr marL="342900" indent="-342900">
              <a:spcAft>
                <a:spcPts val="200"/>
              </a:spcAft>
              <a:buClr>
                <a:srgbClr val="2E74B1"/>
              </a:buClr>
            </a:pPr>
            <a:r>
              <a:rPr sz="1200" b="0" i="0" dirty="0">
                <a:solidFill>
                  <a:srgbClr val="404040"/>
                </a:solidFill>
                <a:latin typeface="Calibri"/>
              </a:rPr>
              <a:t>Fiber optic: </a:t>
            </a:r>
            <a:r>
              <a:rPr sz="1200" b="1" i="0" dirty="0">
                <a:solidFill>
                  <a:srgbClr val="2E74B1"/>
                </a:solidFill>
                <a:latin typeface="Calibri"/>
              </a:rPr>
              <a:t>41.9%</a:t>
            </a:r>
            <a:r>
              <a:rPr sz="1200" b="0" i="0" dirty="0">
                <a:solidFill>
                  <a:srgbClr val="404040"/>
                </a:solidFill>
                <a:latin typeface="Calibri"/>
              </a:rPr>
              <a:t> churn</a:t>
            </a:r>
            <a:endParaRPr lang="en-US" dirty="0">
              <a:effectLst/>
            </a:endParaRPr>
          </a:p>
          <a:p>
            <a:pPr marL="342900" indent="-342900">
              <a:spcAft>
                <a:spcPts val="200"/>
              </a:spcAft>
              <a:buClr>
                <a:srgbClr val="2E74B1"/>
              </a:buClr>
            </a:pPr>
            <a:r>
              <a:rPr sz="1200" b="0" i="0" dirty="0">
                <a:solidFill>
                  <a:srgbClr val="404040"/>
                </a:solidFill>
                <a:latin typeface="Calibri"/>
              </a:rPr>
              <a:t>DSL: 19.0% churn</a:t>
            </a:r>
          </a:p>
          <a:p>
            <a:pPr marL="342900" indent="-342900">
              <a:spcAft>
                <a:spcPts val="600"/>
              </a:spcAft>
              <a:buClr>
                <a:srgbClr val="2E74B1"/>
              </a:buClr>
            </a:pPr>
            <a:r>
              <a:rPr sz="1200" b="0" i="0" dirty="0">
                <a:solidFill>
                  <a:srgbClr val="404040"/>
                </a:solidFill>
                <a:latin typeface="Calibri"/>
              </a:rPr>
              <a:t>No internet: 7.4% churn</a:t>
            </a:r>
          </a:p>
          <a:p>
            <a:pPr marL="342900" indent="-342900">
              <a:spcAft>
                <a:spcPts val="0"/>
              </a:spcAft>
              <a:buClr>
                <a:srgbClr val="2E74B1"/>
              </a:buClr>
            </a:pPr>
            <a:r>
              <a:rPr sz="1200" b="0" i="1" dirty="0">
                <a:solidFill>
                  <a:srgbClr val="404040"/>
                </a:solidFill>
                <a:latin typeface="Calibri"/>
              </a:rPr>
              <a:t>Fiber customers churn at more than double the DSL rate.</a:t>
            </a:r>
          </a:p>
          <a:p>
            <a:pPr marL="342900" indent="-342900">
              <a:spcAft>
                <a:spcPts val="0"/>
              </a:spcAft>
              <a:buNone/>
            </a:pPr>
            <a:endParaRPr sz="1200" b="0" i="1" dirty="0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368894" y="910447"/>
            <a:ext cx="4791456" cy="296265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AAD85F2D-C477-C05A-E0E0-D8276526991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10656867"/>
              </p:ext>
            </p:extLst>
          </p:nvPr>
        </p:nvGraphicFramePr>
        <p:xfrm>
          <a:off x="6383641" y="910447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368894" y="4132202"/>
            <a:ext cx="4791456" cy="240258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160E8C72-CD49-86DB-76B8-598FDAEEEFA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99898632"/>
              </p:ext>
            </p:extLst>
          </p:nvPr>
        </p:nvGraphicFramePr>
        <p:xfrm>
          <a:off x="6539062" y="4262285"/>
          <a:ext cx="4065027" cy="22957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4166796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56DF6CD-B24A-507D-7261-1CFAD57E7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400" b="1" i="0">
                <a:solidFill>
                  <a:srgbClr val="1F3864"/>
                </a:solidFill>
                <a:latin typeface="Calibri"/>
              </a:rPr>
              <a:t>Payment, Tenure &amp; Monthly Charges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7E869D-6216-625A-154C-B13D163033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226" y="1120876"/>
            <a:ext cx="6806322" cy="5737123"/>
          </a:xfrm>
        </p:spPr>
        <p:txBody>
          <a:bodyPr>
            <a:normAutofit lnSpcReduction="10000"/>
          </a:bodyPr>
          <a:lstStyle/>
          <a:p>
            <a:pPr marL="342900" indent="-342900">
              <a:spcAft>
                <a:spcPts val="300"/>
              </a:spcAft>
              <a:buClr>
                <a:srgbClr val="2E74B1"/>
              </a:buClr>
            </a:pPr>
            <a:r>
              <a:rPr sz="1400" b="1" i="0">
                <a:solidFill>
                  <a:srgbClr val="16283F"/>
                </a:solidFill>
                <a:latin typeface="Calibri"/>
              </a:rPr>
              <a:t>3. Payment method matters a lot</a:t>
            </a:r>
            <a:endParaRPr lang="en-US" dirty="0">
              <a:effectLst/>
            </a:endParaRPr>
          </a:p>
          <a:p>
            <a:pPr marL="342900" indent="-342900">
              <a:spcAft>
                <a:spcPts val="200"/>
              </a:spcAft>
              <a:buClr>
                <a:srgbClr val="2E74B1"/>
              </a:buClr>
            </a:pPr>
            <a:r>
              <a:rPr sz="1200" b="0" i="0">
                <a:solidFill>
                  <a:srgbClr val="404040"/>
                </a:solidFill>
                <a:latin typeface="Calibri"/>
              </a:rPr>
              <a:t>Electronic check: </a:t>
            </a:r>
            <a:r>
              <a:rPr sz="1200" b="1" i="0">
                <a:solidFill>
                  <a:srgbClr val="2E74B1"/>
                </a:solidFill>
                <a:latin typeface="Calibri"/>
              </a:rPr>
              <a:t>45.3%</a:t>
            </a:r>
            <a:r>
              <a:rPr sz="1200" b="0" i="0">
                <a:solidFill>
                  <a:srgbClr val="404040"/>
                </a:solidFill>
                <a:latin typeface="Calibri"/>
              </a:rPr>
              <a:t> churn</a:t>
            </a:r>
          </a:p>
          <a:p>
            <a:pPr marL="342900" indent="-342900">
              <a:spcAft>
                <a:spcPts val="1600"/>
              </a:spcAft>
              <a:buClr>
                <a:srgbClr val="2E74B1"/>
              </a:buClr>
            </a:pPr>
            <a:r>
              <a:rPr sz="1200" b="0" i="0">
                <a:solidFill>
                  <a:srgbClr val="404040"/>
                </a:solidFill>
                <a:latin typeface="Calibri"/>
              </a:rPr>
              <a:t>Automatic payments (bank transfer / card): only </a:t>
            </a:r>
            <a:r>
              <a:rPr sz="1200" b="1" i="0">
                <a:solidFill>
                  <a:srgbClr val="2E74B1"/>
                </a:solidFill>
                <a:latin typeface="Calibri"/>
              </a:rPr>
              <a:t>15–17%</a:t>
            </a:r>
          </a:p>
          <a:p>
            <a:pPr marL="342900" indent="-342900">
              <a:spcAft>
                <a:spcPts val="300"/>
              </a:spcAft>
              <a:buClr>
                <a:srgbClr val="2E74B1"/>
              </a:buClr>
            </a:pPr>
            <a:r>
              <a:rPr sz="1400" b="1" i="0">
                <a:solidFill>
                  <a:srgbClr val="16283F"/>
                </a:solidFill>
                <a:latin typeface="Calibri"/>
              </a:rPr>
              <a:t>4. New customers are the most likely to leave</a:t>
            </a:r>
          </a:p>
          <a:p>
            <a:pPr marL="342900" indent="-342900">
              <a:spcAft>
                <a:spcPts val="200"/>
              </a:spcAft>
              <a:buClr>
                <a:srgbClr val="2E74B1"/>
              </a:buClr>
            </a:pPr>
            <a:r>
              <a:rPr sz="1200" b="0" i="0">
                <a:solidFill>
                  <a:srgbClr val="404040"/>
                </a:solidFill>
                <a:latin typeface="Calibri"/>
              </a:rPr>
              <a:t>0–12 months tenure: </a:t>
            </a:r>
            <a:r>
              <a:rPr sz="1200" b="1" i="0">
                <a:solidFill>
                  <a:srgbClr val="2E74B1"/>
                </a:solidFill>
                <a:latin typeface="Calibri"/>
              </a:rPr>
              <a:t>47.4%</a:t>
            </a:r>
            <a:r>
              <a:rPr sz="1200" b="0" i="0">
                <a:solidFill>
                  <a:srgbClr val="404040"/>
                </a:solidFill>
                <a:latin typeface="Calibri"/>
              </a:rPr>
              <a:t> churn</a:t>
            </a:r>
            <a:endParaRPr lang="en-US" dirty="0">
              <a:effectLst/>
            </a:endParaRPr>
          </a:p>
          <a:p>
            <a:pPr marL="342900" indent="-342900">
              <a:spcAft>
                <a:spcPts val="1600"/>
              </a:spcAft>
              <a:buClr>
                <a:srgbClr val="2E74B1"/>
              </a:buClr>
            </a:pPr>
            <a:r>
              <a:rPr sz="1200" b="0" i="0">
                <a:solidFill>
                  <a:srgbClr val="404040"/>
                </a:solidFill>
                <a:latin typeface="Calibri"/>
              </a:rPr>
              <a:t>Churn drops off fast the longer someone stays.</a:t>
            </a:r>
          </a:p>
          <a:p>
            <a:pPr marL="342900" indent="-342900">
              <a:spcAft>
                <a:spcPts val="300"/>
              </a:spcAft>
              <a:buClr>
                <a:srgbClr val="2E74B1"/>
              </a:buClr>
            </a:pPr>
            <a:r>
              <a:rPr sz="1400" b="1" i="0">
                <a:solidFill>
                  <a:srgbClr val="16283F"/>
                </a:solidFill>
                <a:latin typeface="Calibri"/>
              </a:rPr>
              <a:t>5. Bigger bills, bigger risk</a:t>
            </a:r>
          </a:p>
          <a:p>
            <a:pPr marL="342900" indent="-342900">
              <a:spcAft>
                <a:spcPts val="200"/>
              </a:spcAft>
              <a:buClr>
                <a:srgbClr val="2E74B1"/>
              </a:buClr>
            </a:pPr>
            <a:r>
              <a:rPr sz="1200" b="0" i="0">
                <a:solidFill>
                  <a:srgbClr val="404040"/>
                </a:solidFill>
                <a:latin typeface="Calibri"/>
              </a:rPr>
              <a:t>Churned customers pay </a:t>
            </a:r>
            <a:r>
              <a:rPr sz="1200" b="1" i="0">
                <a:solidFill>
                  <a:srgbClr val="2E74B1"/>
                </a:solidFill>
                <a:latin typeface="Calibri"/>
              </a:rPr>
              <a:t>₦74.4</a:t>
            </a:r>
            <a:r>
              <a:rPr sz="1200" b="0" i="0">
                <a:solidFill>
                  <a:srgbClr val="404040"/>
                </a:solidFill>
                <a:latin typeface="Calibri"/>
              </a:rPr>
              <a:t> on average</a:t>
            </a:r>
          </a:p>
          <a:p>
            <a:pPr marL="342900" indent="-342900">
              <a:spcAft>
                <a:spcPts val="0"/>
              </a:spcAft>
              <a:buClr>
                <a:srgbClr val="2E74B1"/>
              </a:buClr>
            </a:pPr>
            <a:r>
              <a:rPr sz="1200" b="0" i="0">
                <a:solidFill>
                  <a:srgbClr val="404040"/>
                </a:solidFill>
                <a:latin typeface="Calibri"/>
              </a:rPr>
              <a:t>Retained customers pay </a:t>
            </a:r>
            <a:r>
              <a:rPr sz="1200" b="1" i="0">
                <a:solidFill>
                  <a:srgbClr val="2E74B1"/>
                </a:solidFill>
                <a:latin typeface="Calibri"/>
              </a:rPr>
              <a:t>₦61.3</a:t>
            </a:r>
            <a:r>
              <a:rPr sz="1200" b="0" i="0">
                <a:solidFill>
                  <a:srgbClr val="404040"/>
                </a:solidFill>
                <a:latin typeface="Calibri"/>
              </a:rPr>
              <a:t> on average</a:t>
            </a:r>
          </a:p>
          <a:p>
            <a:pPr marL="342900" indent="-342900">
              <a:spcAft>
                <a:spcPts val="0"/>
              </a:spcAft>
              <a:buNone/>
            </a:pPr>
            <a:endParaRPr lang="en-US" dirty="0">
              <a:effectLst/>
            </a:endParaRPr>
          </a:p>
          <a:p>
            <a:pPr marL="342900" indent="-342900"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8" name="Rounded Rectangle 7"/>
          <p:cNvSpPr/>
          <p:nvPr/>
        </p:nvSpPr>
        <p:spPr>
          <a:xfrm>
            <a:off x="7067820" y="616835"/>
            <a:ext cx="4395708" cy="263081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282F3898-8607-A71C-708F-12AEBDF5CE9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19604197"/>
              </p:ext>
            </p:extLst>
          </p:nvPr>
        </p:nvGraphicFramePr>
        <p:xfrm>
          <a:off x="7067820" y="434441"/>
          <a:ext cx="4176252" cy="24113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230053" y="3429000"/>
            <a:ext cx="4465419" cy="29329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boxplot_clean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4916" y="3462637"/>
            <a:ext cx="4355691" cy="2962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9922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5AF3606-969E-435D-A294-2DCF8A7C6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200" b="1" i="0">
                <a:solidFill>
                  <a:srgbClr val="1F3864"/>
                </a:solidFill>
                <a:latin typeface="Calibri"/>
              </a:rPr>
              <a:t>Business Risks</a:t>
            </a: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841248" y="1828800"/>
            <a:ext cx="502920" cy="50292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783080"/>
            <a:ext cx="96926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16283F"/>
                </a:solidFill>
                <a:latin typeface="Calibri"/>
              </a:rPr>
              <a:t>Too dependent on month-to-month plans</a:t>
            </a:r>
          </a:p>
          <a:p>
            <a:r>
              <a:rPr sz="1300">
                <a:solidFill>
                  <a:srgbClr val="404040"/>
                </a:solidFill>
                <a:latin typeface="Calibri"/>
              </a:rPr>
              <a:t>A large share of customers sit on the highest-churn contract type (42.7%), which keeps revenue unpredictable.</a:t>
            </a:r>
          </a:p>
        </p:txBody>
      </p:sp>
      <p:sp>
        <p:nvSpPr>
          <p:cNvPr id="7" name="Oval 6"/>
          <p:cNvSpPr/>
          <p:nvPr/>
        </p:nvSpPr>
        <p:spPr>
          <a:xfrm>
            <a:off x="841248" y="3246120"/>
            <a:ext cx="502920" cy="50292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00400"/>
            <a:ext cx="96926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16283F"/>
                </a:solidFill>
                <a:latin typeface="Calibri"/>
              </a:rPr>
              <a:t>Fiber Optic is bleeding customers</a:t>
            </a:r>
          </a:p>
          <a:p>
            <a:r>
              <a:rPr sz="1300">
                <a:solidFill>
                  <a:srgbClr val="404040"/>
                </a:solidFill>
                <a:latin typeface="Calibri"/>
              </a:rPr>
              <a:t>At 41.9% churn, the profitability of this premium service is under real pressure.</a:t>
            </a:r>
          </a:p>
        </p:txBody>
      </p:sp>
      <p:sp>
        <p:nvSpPr>
          <p:cNvPr id="9" name="Oval 8"/>
          <p:cNvSpPr/>
          <p:nvPr/>
        </p:nvSpPr>
        <p:spPr>
          <a:xfrm>
            <a:off x="841248" y="4663440"/>
            <a:ext cx="502920" cy="50292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4617720"/>
            <a:ext cx="96926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16283F"/>
                </a:solidFill>
                <a:latin typeface="Calibri"/>
              </a:rPr>
              <a:t>New customers don't stick around</a:t>
            </a:r>
          </a:p>
          <a:p>
            <a:r>
              <a:rPr sz="1300">
                <a:solidFill>
                  <a:srgbClr val="404040"/>
                </a:solidFill>
                <a:latin typeface="Calibri"/>
              </a:rPr>
              <a:t>Nearly half (47.4%) leave within their first year, so acquisition spend isn't turning into long-term value.</a:t>
            </a:r>
          </a:p>
        </p:txBody>
      </p:sp>
    </p:spTree>
    <p:extLst>
      <p:ext uri="{BB962C8B-B14F-4D97-AF65-F5344CB8AC3E}">
        <p14:creationId xmlns:p14="http://schemas.microsoft.com/office/powerpoint/2010/main" val="40552210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99470B0-9308-5B4D-2D75-A6D017B99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200" b="1" i="0">
                <a:solidFill>
                  <a:srgbClr val="1F3864"/>
                </a:solidFill>
                <a:latin typeface="Calibri"/>
              </a:rPr>
              <a:t>Business Opportunities</a:t>
            </a: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841248" y="1828800"/>
            <a:ext cx="502920" cy="502920"/>
          </a:xfrm>
          <a:prstGeom prst="ellipse">
            <a:avLst/>
          </a:prstGeom>
          <a:solidFill>
            <a:srgbClr val="2E74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783080"/>
            <a:ext cx="96926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16283F"/>
                </a:solidFill>
                <a:latin typeface="Calibri"/>
              </a:rPr>
              <a:t>Move customers onto longer contracts</a:t>
            </a:r>
          </a:p>
          <a:p>
            <a:r>
              <a:rPr sz="1300">
                <a:solidFill>
                  <a:srgbClr val="404040"/>
                </a:solidFill>
                <a:latin typeface="Calibri"/>
              </a:rPr>
              <a:t>Shifting people from month-to-month to one- or two-year plans could meaningfully cut churn.</a:t>
            </a:r>
          </a:p>
        </p:txBody>
      </p:sp>
      <p:sp>
        <p:nvSpPr>
          <p:cNvPr id="7" name="Oval 6"/>
          <p:cNvSpPr/>
          <p:nvPr/>
        </p:nvSpPr>
        <p:spPr>
          <a:xfrm>
            <a:off x="841248" y="3246120"/>
            <a:ext cx="502920" cy="502920"/>
          </a:xfrm>
          <a:prstGeom prst="ellipse">
            <a:avLst/>
          </a:prstGeom>
          <a:solidFill>
            <a:srgbClr val="2E74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00400"/>
            <a:ext cx="96926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16283F"/>
                </a:solidFill>
                <a:latin typeface="Calibri"/>
              </a:rPr>
              <a:t>Push automatic payments</a:t>
            </a:r>
          </a:p>
          <a:p>
            <a:r>
              <a:rPr sz="1300">
                <a:solidFill>
                  <a:srgbClr val="404040"/>
                </a:solidFill>
                <a:latin typeface="Calibri"/>
              </a:rPr>
              <a:t>Getting customers off electronic checks and onto bank transfer or card payments improves retention cheaply.</a:t>
            </a:r>
          </a:p>
        </p:txBody>
      </p:sp>
      <p:sp>
        <p:nvSpPr>
          <p:cNvPr id="9" name="Oval 8"/>
          <p:cNvSpPr/>
          <p:nvPr/>
        </p:nvSpPr>
        <p:spPr>
          <a:xfrm>
            <a:off x="841248" y="4663440"/>
            <a:ext cx="502920" cy="502920"/>
          </a:xfrm>
          <a:prstGeom prst="ellipse">
            <a:avLst/>
          </a:prstGeom>
          <a:solidFill>
            <a:srgbClr val="2E74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4617720"/>
            <a:ext cx="96926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16283F"/>
                </a:solidFill>
                <a:latin typeface="Calibri"/>
              </a:rPr>
              <a:t>Invest in the first year</a:t>
            </a:r>
          </a:p>
          <a:p>
            <a:r>
              <a:rPr sz="1300">
                <a:solidFill>
                  <a:srgbClr val="404040"/>
                </a:solidFill>
                <a:latin typeface="Calibri"/>
              </a:rPr>
              <a:t>A stronger onboarding and early-engagement experience can catch at-risk customers before they leave.</a:t>
            </a:r>
          </a:p>
        </p:txBody>
      </p:sp>
    </p:spTree>
    <p:extLst>
      <p:ext uri="{BB962C8B-B14F-4D97-AF65-F5344CB8AC3E}">
        <p14:creationId xmlns:p14="http://schemas.microsoft.com/office/powerpoint/2010/main" val="34205145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B074348-7FA5-7EBF-5789-5F74EB26E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200" b="1" i="0">
                <a:solidFill>
                  <a:srgbClr val="1F3864"/>
                </a:solidFill>
                <a:latin typeface="Calibri"/>
              </a:rPr>
              <a:t>Recommendations</a:t>
            </a:r>
          </a:p>
        </p:txBody>
      </p:sp>
      <p:sp>
        <p:nvSpPr>
          <p:cNvPr id="5" name="Oval 4"/>
          <p:cNvSpPr/>
          <p:nvPr/>
        </p:nvSpPr>
        <p:spPr>
          <a:xfrm>
            <a:off x="841248" y="1783080"/>
            <a:ext cx="420624" cy="420624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17904" y="1746504"/>
            <a:ext cx="97840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1500" b="1">
                <a:solidFill>
                  <a:srgbClr val="16283F"/>
                </a:solidFill>
                <a:latin typeface="Calibri"/>
              </a:rPr>
              <a:t>Migrate month-to-month customers</a:t>
            </a:r>
          </a:p>
          <a:p>
            <a:r>
              <a:rPr sz="1200">
                <a:solidFill>
                  <a:srgbClr val="404040"/>
                </a:solidFill>
                <a:latin typeface="Calibri"/>
              </a:rPr>
              <a:t>Move them to one- or two-year contracts using targeted incentives.</a:t>
            </a:r>
          </a:p>
        </p:txBody>
      </p:sp>
      <p:sp>
        <p:nvSpPr>
          <p:cNvPr id="7" name="Oval 6"/>
          <p:cNvSpPr/>
          <p:nvPr/>
        </p:nvSpPr>
        <p:spPr>
          <a:xfrm>
            <a:off x="841248" y="2715768"/>
            <a:ext cx="420624" cy="420624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17904" y="2679192"/>
            <a:ext cx="97840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1500" b="1">
                <a:solidFill>
                  <a:srgbClr val="16283F"/>
                </a:solidFill>
                <a:latin typeface="Calibri"/>
              </a:rPr>
              <a:t>Fix the Fiber Optic experience</a:t>
            </a:r>
          </a:p>
          <a:p>
            <a:r>
              <a:rPr sz="1200">
                <a:solidFill>
                  <a:srgbClr val="404040"/>
                </a:solidFill>
                <a:latin typeface="Calibri"/>
              </a:rPr>
              <a:t>Investigate what's driving dissatisfaction and roll out a dedicated retention offer.</a:t>
            </a:r>
          </a:p>
        </p:txBody>
      </p:sp>
      <p:sp>
        <p:nvSpPr>
          <p:cNvPr id="9" name="Oval 8"/>
          <p:cNvSpPr/>
          <p:nvPr/>
        </p:nvSpPr>
        <p:spPr>
          <a:xfrm>
            <a:off x="841248" y="3648456"/>
            <a:ext cx="420624" cy="420624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17904" y="3611880"/>
            <a:ext cx="97840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1500" b="1">
                <a:solidFill>
                  <a:srgbClr val="16283F"/>
                </a:solidFill>
                <a:latin typeface="Calibri"/>
              </a:rPr>
              <a:t>Encourage automatic payments</a:t>
            </a:r>
          </a:p>
          <a:p>
            <a:r>
              <a:rPr sz="1200">
                <a:solidFill>
                  <a:srgbClr val="404040"/>
                </a:solidFill>
                <a:latin typeface="Calibri"/>
              </a:rPr>
              <a:t>Shift customers off electronic checks and onto bank transfer or card.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4581144"/>
            <a:ext cx="420624" cy="420624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17904" y="4544568"/>
            <a:ext cx="97840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1500" b="1">
                <a:solidFill>
                  <a:srgbClr val="16283F"/>
                </a:solidFill>
                <a:latin typeface="Calibri"/>
              </a:rPr>
              <a:t>Build a first-year onboarding program</a:t>
            </a:r>
          </a:p>
          <a:p>
            <a:r>
              <a:rPr sz="1200">
                <a:solidFill>
                  <a:srgbClr val="404040"/>
                </a:solidFill>
                <a:latin typeface="Calibri"/>
              </a:rPr>
              <a:t>Structured, early engagement for new customers from day one.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5513832"/>
            <a:ext cx="420624" cy="420624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17904" y="5477256"/>
            <a:ext cx="97840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1500" b="1">
                <a:solidFill>
                  <a:srgbClr val="16283F"/>
                </a:solidFill>
                <a:latin typeface="Calibri"/>
              </a:rPr>
              <a:t>Revisit pricing for high-paying customers</a:t>
            </a:r>
          </a:p>
          <a:p>
            <a:r>
              <a:rPr sz="1200">
                <a:solidFill>
                  <a:srgbClr val="404040"/>
                </a:solidFill>
                <a:latin typeface="Calibri"/>
              </a:rPr>
              <a:t>Make sure the value they're getting matches what they're paying.</a:t>
            </a:r>
          </a:p>
        </p:txBody>
      </p:sp>
    </p:spTree>
    <p:extLst>
      <p:ext uri="{BB962C8B-B14F-4D97-AF65-F5344CB8AC3E}">
        <p14:creationId xmlns:p14="http://schemas.microsoft.com/office/powerpoint/2010/main" val="35494334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02666F6-C3A4-0859-259D-F4742198B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200" b="1" i="0">
                <a:solidFill>
                  <a:srgbClr val="1F3864"/>
                </a:solidFill>
                <a:latin typeface="Calibr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783080"/>
            <a:ext cx="1005840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404040"/>
                </a:solidFill>
                <a:latin typeface="Calibri"/>
              </a:rPr>
              <a:t>Churn currently sits at </a:t>
            </a:r>
            <a:r>
              <a:rPr sz="1600" b="1">
                <a:solidFill>
                  <a:srgbClr val="2E74B1"/>
                </a:solidFill>
                <a:latin typeface="Calibri"/>
              </a:rPr>
              <a:t>26.5%.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404040"/>
                </a:solidFill>
                <a:latin typeface="Calibri"/>
              </a:rPr>
              <a:t>The biggest drivers: month-to-month contracts, fiber optic service, electronic check payments, and short tenure — especially that first year.</a:t>
            </a:r>
          </a:p>
          <a:p>
            <a:r>
              <a:rPr sz="1600">
                <a:solidFill>
                  <a:srgbClr val="404040"/>
                </a:solidFill>
                <a:latin typeface="Calibri"/>
              </a:rPr>
              <a:t>Higher monthly charges add to the risk too.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4160520"/>
            <a:ext cx="10515600" cy="1691640"/>
          </a:xfrm>
          <a:prstGeom prst="roundRect">
            <a:avLst>
              <a:gd name="adj" fmla="val 4000"/>
            </a:avLst>
          </a:prstGeom>
          <a:solidFill>
            <a:srgbClr val="EEF2F7"/>
          </a:solidFill>
          <a:ln w="9525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01168" rIns="274320" bIns="201168" rtlCol="0" anchor="ctr"/>
          <a:lstStyle/>
          <a:p>
            <a:pPr algn="ctr"/>
            <a:r>
              <a:rPr sz="1500" b="1" i="1">
                <a:solidFill>
                  <a:srgbClr val="16283F"/>
                </a:solidFill>
                <a:latin typeface="Calibri"/>
              </a:rPr>
              <a:t>Priority actions: </a:t>
            </a:r>
            <a:r>
              <a:rPr sz="1500" i="1">
                <a:solidFill>
                  <a:srgbClr val="404040"/>
                </a:solidFill>
                <a:latin typeface="Calibri"/>
              </a:rPr>
              <a:t>Start by converting month-to-month customers to longer contracts and strengthening the first-year experience — these two moves offer the biggest wins for reducing churn and protecting revenue.</a:t>
            </a:r>
          </a:p>
        </p:txBody>
      </p:sp>
    </p:spTree>
    <p:extLst>
      <p:ext uri="{BB962C8B-B14F-4D97-AF65-F5344CB8AC3E}">
        <p14:creationId xmlns:p14="http://schemas.microsoft.com/office/powerpoint/2010/main" val="34331592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g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7048" y="2468880"/>
            <a:ext cx="91440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7048" y="3246120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i="1">
                <a:solidFill>
                  <a:srgbClr val="CADCFC"/>
                </a:solidFill>
                <a:latin typeface="Calibri"/>
              </a:rPr>
              <a:t>Questions?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27048" y="4297680"/>
            <a:ext cx="9144000" cy="4514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Calibri"/>
              </a:rPr>
              <a:t>Adesola Sobambo</a:t>
            </a:r>
          </a:p>
          <a:p>
            <a:pPr algn="ctr">
              <a:spcBef>
                <a:spcPts val="400"/>
              </a:spcBef>
            </a:pPr>
            <a:r>
              <a:rPr sz="1200" dirty="0">
                <a:solidFill>
                  <a:srgbClr val="B9C7E0"/>
                </a:solidFill>
                <a:latin typeface="Calibri"/>
              </a:rPr>
              <a:t>Data Analytics Internship Program – </a:t>
            </a:r>
            <a:r>
              <a:rPr sz="1200" dirty="0" err="1">
                <a:solidFill>
                  <a:srgbClr val="B9C7E0"/>
                </a:solidFill>
                <a:latin typeface="Calibri"/>
              </a:rPr>
              <a:t>AnalystLab</a:t>
            </a:r>
            <a:r>
              <a:rPr sz="1200" dirty="0">
                <a:solidFill>
                  <a:srgbClr val="B9C7E0"/>
                </a:solidFill>
                <a:latin typeface="Calibri"/>
              </a:rPr>
              <a:t> Africa</a:t>
            </a:r>
          </a:p>
        </p:txBody>
      </p:sp>
    </p:spTree>
    <p:extLst>
      <p:ext uri="{BB962C8B-B14F-4D97-AF65-F5344CB8AC3E}">
        <p14:creationId xmlns:p14="http://schemas.microsoft.com/office/powerpoint/2010/main" val="13138803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640</Words>
  <Application>Microsoft Office PowerPoint</Application>
  <PresentationFormat>Widescreen</PresentationFormat>
  <Paragraphs>102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Office Theme</vt:lpstr>
      <vt:lpstr>Customer Behaviour &amp; Business Performance Analysis for ABC Communications Ltd Telco Customer Churn Dataset</vt:lpstr>
      <vt:lpstr>Agenda</vt:lpstr>
      <vt:lpstr>Business Problem &amp; Objective</vt:lpstr>
      <vt:lpstr>Dataset Overview</vt:lpstr>
      <vt:lpstr>Contracts &amp; Internet Service</vt:lpstr>
      <vt:lpstr>Payment, Tenure &amp; Monthly Charges</vt:lpstr>
      <vt:lpstr>Business Risks</vt:lpstr>
      <vt:lpstr>Business Opportunities</vt:lpstr>
      <vt:lpstr>Recommendations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Adesola Sobambo</dc:creator>
  <cp:lastModifiedBy>Adesola Sobambo</cp:lastModifiedBy>
  <cp:revision>5</cp:revision>
  <dcterms:created xsi:type="dcterms:W3CDTF">2026-08-10T03:14:39Z</dcterms:created>
  <dcterms:modified xsi:type="dcterms:W3CDTF">2026-08-10T10:25:16Z</dcterms:modified>
</cp:coreProperties>
</file>